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7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3800" b="0" u="none" strike="noStrike">
                <a:solidFill>
                  <a:schemeClr val="dk1"/>
                </a:solidFill>
                <a:effectLst/>
                <a:uFillTx/>
                <a:latin typeface="Arial Black"/>
              </a:rPr>
              <a:t>Click to move the slide</a:t>
            </a:r>
            <a:endParaRPr lang="en-US" sz="38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P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s-P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s-P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P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9910465-14E2-4A61-A753-3ADA93E1C126}" type="slidenum">
              <a:rPr lang="es-P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s-P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Portada: reemplaza el título, subtítulo, tu nombre, cargo e institución.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01EF87FB-F58C-4696-92F8-395CCE7E4D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Presentación personal (1 minuto). Inserta tu foto en el círculo y actualiza tus datos de contacto.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F2063312-2B72-42BC-86FE-F46305ED3D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Ajusta los 4 bloques a la estructura de tu charla. Si necesitas menos, elimina la tarjeta completa.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770731B-B25D-49B9-9B71-6749E3E2F2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Separador de sección. Duplícalo para cada bloque de tu agenda y cambia el número.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A219764-EE9A-4F8C-82FF-57EAA0A2D7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Diapositiva de contenido con texto y una idea destacada. Duplícala las veces que necesites.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1EAA223-E043-42CC-8295-34C0D42127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Inserta tu imagen o gráfico en el recuadro de la derecha (Insertar → Imagen) y luego elimina el recuadro guía.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DB8C4B5-A709-4FE8-9651-2684860008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Cifras clave: reemplaza los números y descripciones. Siempre cita la fuente.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267A202-BF08-4A83-9408-7D17C691DF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demos en vivo o fragmentos de código. Reemplaza el código de ejemplo por el tuyo (mantén Courier New).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D24A0F5A-35C4-482C-AEF2-601C9F1C61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Cierra con 2 o 3 conclusiones y un llamado a la acción.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3F5C321-B51B-4DD0-8C83-C68DEC2746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Cierre. Agrega tus datos de contacto y, si quieres, un código QR a tus redes, repositorio o materiales.</a:t>
            </a:r>
            <a:endParaRPr lang="es-P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A366D796-A537-4D80-90E7-AFE7D3A43EF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s-P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0305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F Portada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df/assets/logos_t.png"/>
          <p:cNvPicPr/>
          <p:nvPr/>
        </p:nvPicPr>
        <p:blipFill>
          <a:blip r:embed="rId3"/>
          <a:stretch/>
        </p:blipFill>
        <p:spPr>
          <a:xfrm>
            <a:off x="548640" y="411480"/>
            <a:ext cx="4205520" cy="94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331720"/>
            <a:ext cx="6765840" cy="1736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8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 tu ponencia</a:t>
            </a:r>
            <a:endParaRPr lang="en-US" sz="38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s-PE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s-PE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F Secc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926080"/>
            <a:ext cx="6948720" cy="137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4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 la sección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1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805644-24C2-476F-AED7-2322A283EF2E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s-PE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s-PE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F Solo titul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 la diapositiva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pic>
        <p:nvPicPr>
          <p:cNvPr id="9" name="Image 0" descr="/home/claude/idf/assets/logos_t.png"/>
          <p:cNvPicPr/>
          <p:nvPr/>
        </p:nvPicPr>
        <p:blipFill>
          <a:blip r:embed="rId3"/>
          <a:stretch/>
        </p:blipFill>
        <p:spPr>
          <a:xfrm>
            <a:off x="548640" y="6272640"/>
            <a:ext cx="1919520" cy="43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Text 0"/>
          <p:cNvSpPr/>
          <p:nvPr/>
        </p:nvSpPr>
        <p:spPr>
          <a:xfrm>
            <a:off x="2697480" y="6327720"/>
            <a:ext cx="5942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IQUITOS DATA FEST 2026  ·  30 de octubre  ·  Aula Magna UNAP</a:t>
            </a:r>
            <a:endParaRPr lang="es-P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2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1871EF-6A4C-4FB8-A639-A94AD720F272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s-PE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s-PE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P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s-P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F Titulo y 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 la diapositiva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 hasCustomPrompt="1"/>
          </p:nvPr>
        </p:nvSpPr>
        <p:spPr>
          <a:xfrm>
            <a:off x="548640" y="1508760"/>
            <a:ext cx="6582960" cy="4388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Escribe aquí tu contenido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 descr="/home/claude/idf/assets/logos_t.png"/>
          <p:cNvPicPr/>
          <p:nvPr/>
        </p:nvPicPr>
        <p:blipFill>
          <a:blip r:embed="rId3"/>
          <a:stretch/>
        </p:blipFill>
        <p:spPr>
          <a:xfrm>
            <a:off x="548640" y="6272640"/>
            <a:ext cx="1919520" cy="43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0"/>
          <p:cNvSpPr/>
          <p:nvPr/>
        </p:nvSpPr>
        <p:spPr>
          <a:xfrm>
            <a:off x="2697480" y="6327720"/>
            <a:ext cx="59428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IQUITOS DATA FEST 2026  ·  30 de octubre  ·  Aula Magna UNAP</a:t>
            </a:r>
            <a:endParaRPr lang="es-P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sldNum" idx="3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2EB4A9-ABD4-41E8-BCB8-6DF13B8208D8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DF Cierr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 descr="/home/claude/idf/assets/logos_t.png"/>
          <p:cNvPicPr/>
          <p:nvPr/>
        </p:nvPicPr>
        <p:blipFill>
          <a:blip r:embed="rId3"/>
          <a:stretch/>
        </p:blipFill>
        <p:spPr>
          <a:xfrm>
            <a:off x="548640" y="5715000"/>
            <a:ext cx="3565440" cy="80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Image 1" descr="/home/claude/idf/assets/datawizard.png"/>
          <p:cNvPicPr/>
          <p:nvPr/>
        </p:nvPicPr>
        <p:blipFill>
          <a:blip r:embed="rId4"/>
          <a:stretch/>
        </p:blipFill>
        <p:spPr>
          <a:xfrm>
            <a:off x="4343400" y="5687640"/>
            <a:ext cx="2285280" cy="84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wordmark"/>
          <p:cNvSpPr/>
          <p:nvPr/>
        </p:nvSpPr>
        <p:spPr>
          <a:xfrm>
            <a:off x="548640" y="1783080"/>
            <a:ext cx="6400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IQUITOS </a:t>
            </a: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 Black"/>
                <a:ea typeface="Arial Black"/>
              </a:rPr>
              <a:t>DATA FEST 2026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331720"/>
            <a:ext cx="6765840" cy="1736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8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¿Puede la IA predecir el futuro? Casos forecasting</a:t>
            </a:r>
            <a:endParaRPr lang="en-US" sz="38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28" name="subtitulo"/>
          <p:cNvSpPr/>
          <p:nvPr/>
        </p:nvSpPr>
        <p:spPr>
          <a:xfrm>
            <a:off x="548640" y="4114800"/>
            <a:ext cx="6582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Subtítulo opcional: qué aprenderá el público en esta charla</a:t>
            </a:r>
            <a:endParaRPr lang="es-PE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onente_card"/>
          <p:cNvSpPr/>
          <p:nvPr/>
        </p:nvSpPr>
        <p:spPr>
          <a:xfrm>
            <a:off x="548640" y="4846320"/>
            <a:ext cx="5851440" cy="1188000"/>
          </a:xfrm>
          <a:prstGeom prst="roundRect">
            <a:avLst>
              <a:gd name="adj" fmla="val 13846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1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onente_nombre"/>
          <p:cNvSpPr/>
          <p:nvPr/>
        </p:nvSpPr>
        <p:spPr>
          <a:xfrm>
            <a:off x="868680" y="4956120"/>
            <a:ext cx="530280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Alex Prieto Romani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Agriculture Data Science · Hortifrut SA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Sobre el ponente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32" name="foto_anillo"/>
          <p:cNvSpPr/>
          <p:nvPr/>
        </p:nvSpPr>
        <p:spPr>
          <a:xfrm>
            <a:off x="914400" y="1691640"/>
            <a:ext cx="3382560" cy="3382560"/>
          </a:xfrm>
          <a:prstGeom prst="ellipse">
            <a:avLst/>
          </a:prstGeom>
          <a:noFill/>
          <a:ln w="50800">
            <a:solidFill>
              <a:srgbClr val="12C8F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foto_ponente"/>
          <p:cNvSpPr/>
          <p:nvPr/>
        </p:nvSpPr>
        <p:spPr>
          <a:xfrm>
            <a:off x="1078920" y="1856160"/>
            <a:ext cx="3053520" cy="30535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accent3">
                <a:alpha val="60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foto_icono" descr="preencoded.png"/>
          <p:cNvPicPr/>
          <p:nvPr/>
        </p:nvPicPr>
        <p:blipFill>
          <a:blip r:embed="rId1"/>
          <a:stretch/>
        </p:blipFill>
        <p:spPr>
          <a:xfrm>
            <a:off x="2286000" y="274320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foto_ayuda"/>
          <p:cNvSpPr/>
          <p:nvPr/>
        </p:nvSpPr>
        <p:spPr>
          <a:xfrm>
            <a:off x="1325880" y="3474720"/>
            <a:ext cx="25596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 derecho → Formato de forma → Relleno con imagen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bio_nombre"/>
          <p:cNvSpPr/>
          <p:nvPr/>
        </p:nvSpPr>
        <p:spPr>
          <a:xfrm>
            <a:off x="4937760" y="1691640"/>
            <a:ext cx="6674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Alex Prieto Romani</a:t>
            </a:r>
            <a:endParaRPr lang="es-PE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bio_cargo"/>
          <p:cNvSpPr/>
          <p:nvPr/>
        </p:nvSpPr>
        <p:spPr>
          <a:xfrm>
            <a:off x="4937760" y="2331720"/>
            <a:ext cx="66744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Agriculture Data Science · Hortifrut SA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bio_puntos"/>
          <p:cNvSpPr/>
          <p:nvPr/>
        </p:nvSpPr>
        <p:spPr>
          <a:xfrm>
            <a:off x="4937760" y="2971800"/>
            <a:ext cx="6674400" cy="15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Mg Sc Big Data &amp; Data Science – Ing Agrónomo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Experiencia en el sector agroindustrial desde breeding, calidad de fruta, proyecciones agrícolas, agricultura de presición y diseños estadisticos para ensayos agronómicos.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Proyectos en Computer vision, ML y DL en el sector agroindustrial.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" name="contacto_icono_1" descr="preencoded.png"/>
          <p:cNvPicPr/>
          <p:nvPr/>
        </p:nvPicPr>
        <p:blipFill>
          <a:blip r:embed="rId2"/>
          <a:stretch/>
        </p:blipFill>
        <p:spPr>
          <a:xfrm>
            <a:off x="4937760" y="465444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contacto_1"/>
          <p:cNvSpPr/>
          <p:nvPr/>
        </p:nvSpPr>
        <p:spPr>
          <a:xfrm>
            <a:off x="5349240" y="4617720"/>
            <a:ext cx="5485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linkedin.com/in/alex-prieto-romani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" name="contacto_icono_2" descr="preencoded.png"/>
          <p:cNvPicPr/>
          <p:nvPr/>
        </p:nvPicPr>
        <p:blipFill>
          <a:blip r:embed="rId3"/>
          <a:stretch/>
        </p:blipFill>
        <p:spPr>
          <a:xfrm>
            <a:off x="4937760" y="508392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ontacto_2"/>
          <p:cNvSpPr/>
          <p:nvPr/>
        </p:nvSpPr>
        <p:spPr>
          <a:xfrm>
            <a:off x="5349240" y="5047560"/>
            <a:ext cx="5485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alexprieto1997@gmail.com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contacto_icono_3" descr="preencoded.png"/>
          <p:cNvPicPr/>
          <p:nvPr/>
        </p:nvPicPr>
        <p:blipFill>
          <a:blip r:embed="rId4"/>
          <a:stretch/>
        </p:blipFill>
        <p:spPr>
          <a:xfrm>
            <a:off x="4937760" y="5513760"/>
            <a:ext cx="273600" cy="27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contacto_3"/>
          <p:cNvSpPr/>
          <p:nvPr/>
        </p:nvSpPr>
        <p:spPr>
          <a:xfrm>
            <a:off x="5349240" y="5477400"/>
            <a:ext cx="5485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github.com/AlexPrietoRomani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7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481747-1E8B-4B35-8CE6-3F4F2DCB84A8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Agenda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47" name="agenda_card_01"/>
          <p:cNvSpPr/>
          <p:nvPr/>
        </p:nvSpPr>
        <p:spPr>
          <a:xfrm>
            <a:off x="548640" y="1508760"/>
            <a:ext cx="5394240" cy="1965240"/>
          </a:xfrm>
          <a:prstGeom prst="roundRect">
            <a:avLst>
              <a:gd name="adj" fmla="val 8372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1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agenda_num_01"/>
          <p:cNvSpPr/>
          <p:nvPr/>
        </p:nvSpPr>
        <p:spPr>
          <a:xfrm>
            <a:off x="868680" y="1783080"/>
            <a:ext cx="1370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0" u="none" strike="noStrike">
                <a:solidFill>
                  <a:schemeClr val="accent1"/>
                </a:solidFill>
                <a:effectLst/>
                <a:uFillTx/>
                <a:latin typeface="Arial Black"/>
                <a:ea typeface="Arial Black"/>
              </a:rPr>
              <a:t>01</a:t>
            </a:r>
            <a:endParaRPr lang="es-PE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genda_tema_01"/>
          <p:cNvSpPr/>
          <p:nvPr/>
        </p:nvSpPr>
        <p:spPr>
          <a:xfrm>
            <a:off x="2331720" y="189288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Contexto y problema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agenda_desc_01"/>
          <p:cNvSpPr/>
          <p:nvPr/>
        </p:nvSpPr>
        <p:spPr>
          <a:xfrm>
            <a:off x="2331720" y="2468880"/>
            <a:ext cx="32911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¿Por qué este tema importa hoy?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agenda_card_02"/>
          <p:cNvSpPr/>
          <p:nvPr/>
        </p:nvSpPr>
        <p:spPr>
          <a:xfrm>
            <a:off x="6245280" y="1508760"/>
            <a:ext cx="5394240" cy="1965240"/>
          </a:xfrm>
          <a:prstGeom prst="roundRect">
            <a:avLst>
              <a:gd name="adj" fmla="val 8372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2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agenda_num_02"/>
          <p:cNvSpPr/>
          <p:nvPr/>
        </p:nvSpPr>
        <p:spPr>
          <a:xfrm>
            <a:off x="6565320" y="1783080"/>
            <a:ext cx="1370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0" u="none" strike="noStrike">
                <a:solidFill>
                  <a:schemeClr val="accent2"/>
                </a:solidFill>
                <a:effectLst/>
                <a:uFillTx/>
                <a:latin typeface="Arial Black"/>
                <a:ea typeface="Arial Black"/>
              </a:rPr>
              <a:t>02</a:t>
            </a:r>
            <a:endParaRPr lang="es-PE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agenda_tema_02"/>
          <p:cNvSpPr/>
          <p:nvPr/>
        </p:nvSpPr>
        <p:spPr>
          <a:xfrm>
            <a:off x="8028360" y="189288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Conceptos clave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agenda_desc_02"/>
          <p:cNvSpPr/>
          <p:nvPr/>
        </p:nvSpPr>
        <p:spPr>
          <a:xfrm>
            <a:off x="8028360" y="2468880"/>
            <a:ext cx="32911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Las ideas que necesitas para entender la charla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agenda_card_03"/>
          <p:cNvSpPr/>
          <p:nvPr/>
        </p:nvSpPr>
        <p:spPr>
          <a:xfrm>
            <a:off x="548640" y="3749040"/>
            <a:ext cx="5394240" cy="1965240"/>
          </a:xfrm>
          <a:prstGeom prst="roundRect">
            <a:avLst>
              <a:gd name="adj" fmla="val 8372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3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agenda_num_03"/>
          <p:cNvSpPr/>
          <p:nvPr/>
        </p:nvSpPr>
        <p:spPr>
          <a:xfrm>
            <a:off x="868680" y="4023360"/>
            <a:ext cx="1370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0" u="none" strike="noStrike">
                <a:solidFill>
                  <a:schemeClr val="accent3"/>
                </a:solidFill>
                <a:effectLst/>
                <a:uFillTx/>
                <a:latin typeface="Arial Black"/>
                <a:ea typeface="Arial Black"/>
              </a:rPr>
              <a:t>03</a:t>
            </a:r>
            <a:endParaRPr lang="es-PE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agenda_tema_03"/>
          <p:cNvSpPr/>
          <p:nvPr/>
        </p:nvSpPr>
        <p:spPr>
          <a:xfrm>
            <a:off x="2331720" y="41331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Caso práctico / Demo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agenda_desc_03"/>
          <p:cNvSpPr/>
          <p:nvPr/>
        </p:nvSpPr>
        <p:spPr>
          <a:xfrm>
            <a:off x="2331720" y="4709160"/>
            <a:ext cx="32911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Aplicación real con datos o IA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agenda_card_04"/>
          <p:cNvSpPr/>
          <p:nvPr/>
        </p:nvSpPr>
        <p:spPr>
          <a:xfrm>
            <a:off x="6245280" y="3749040"/>
            <a:ext cx="5394240" cy="1965240"/>
          </a:xfrm>
          <a:prstGeom prst="roundRect">
            <a:avLst>
              <a:gd name="adj" fmla="val 8372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4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agenda_num_04"/>
          <p:cNvSpPr/>
          <p:nvPr/>
        </p:nvSpPr>
        <p:spPr>
          <a:xfrm>
            <a:off x="6565320" y="4023360"/>
            <a:ext cx="1370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0" u="none" strike="noStrike">
                <a:solidFill>
                  <a:schemeClr val="accent4"/>
                </a:solidFill>
                <a:effectLst/>
                <a:uFillTx/>
                <a:latin typeface="Arial Black"/>
                <a:ea typeface="Arial Black"/>
              </a:rPr>
              <a:t>04</a:t>
            </a:r>
            <a:endParaRPr lang="es-PE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agenda_tema_04"/>
          <p:cNvSpPr/>
          <p:nvPr/>
        </p:nvSpPr>
        <p:spPr>
          <a:xfrm>
            <a:off x="8028360" y="4133160"/>
            <a:ext cx="32911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Conclusiones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agenda_desc_04"/>
          <p:cNvSpPr/>
          <p:nvPr/>
        </p:nvSpPr>
        <p:spPr>
          <a:xfrm>
            <a:off x="8028360" y="4709160"/>
            <a:ext cx="32911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Aprendizajes y próximos pasos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8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A55687-3741-4792-8A16-1AA2E0FB53F9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eccion_num"/>
          <p:cNvSpPr/>
          <p:nvPr/>
        </p:nvSpPr>
        <p:spPr>
          <a:xfrm>
            <a:off x="548640" y="1417320"/>
            <a:ext cx="27424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0" b="0" u="none" strike="noStrike">
                <a:solidFill>
                  <a:schemeClr val="accent1"/>
                </a:solidFill>
                <a:effectLst/>
                <a:uFillTx/>
                <a:latin typeface="Arial Black"/>
                <a:ea typeface="Arial Black"/>
              </a:rPr>
              <a:t>01</a:t>
            </a:r>
            <a:endParaRPr lang="es-PE" sz="9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2926080"/>
            <a:ext cx="6948720" cy="137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 la sección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66" name="seccion_desc"/>
          <p:cNvSpPr/>
          <p:nvPr/>
        </p:nvSpPr>
        <p:spPr>
          <a:xfrm>
            <a:off x="548640" y="4343400"/>
            <a:ext cx="6582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Una frase que resuma lo que verás en este bloque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9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B51B26-B6F1-41EC-9997-7A347821B5BB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del contenido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hasCustomPrompt="1"/>
          </p:nvPr>
        </p:nvSpPr>
        <p:spPr>
          <a:xfrm>
            <a:off x="548640" y="1508760"/>
            <a:ext cx="6582960" cy="438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343080" indent="-343080" algn="l" defTabSz="914400">
              <a:lnSpc>
                <a:spcPct val="100000"/>
              </a:lnSpc>
              <a:spcBef>
                <a:spcPts val="360"/>
              </a:spcBef>
              <a:spcAft>
                <a:spcPts val="1400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Primer punto importante de tu exposición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100000"/>
              </a:lnSpc>
              <a:spcBef>
                <a:spcPts val="360"/>
              </a:spcBef>
              <a:spcAft>
                <a:spcPts val="1400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punto: explica con ejemplos concretos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100000"/>
              </a:lnSpc>
              <a:spcBef>
                <a:spcPts val="360"/>
              </a:spcBef>
              <a:spcAft>
                <a:spcPts val="1400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Tercer punto: conecta con el contexto amazónico o local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43080" indent="-343080" algn="l" defTabSz="914400">
              <a:lnSpc>
                <a:spcPct val="100000"/>
              </a:lnSpc>
              <a:spcBef>
                <a:spcPts val="360"/>
              </a:spcBef>
              <a:spcAft>
                <a:spcPts val="1400"/>
              </a:spcAft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Cuarto punto: máximo 5 viñetas por diapositiva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0" name="idea_clave_card"/>
          <p:cNvSpPr/>
          <p:nvPr/>
        </p:nvSpPr>
        <p:spPr>
          <a:xfrm>
            <a:off x="7635240" y="1508760"/>
            <a:ext cx="4004280" cy="4205520"/>
          </a:xfrm>
          <a:prstGeom prst="roundRect">
            <a:avLst>
              <a:gd name="adj" fmla="val 4110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5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1" name="idea_clave_icono" descr="preencoded.png"/>
          <p:cNvPicPr/>
          <p:nvPr/>
        </p:nvPicPr>
        <p:blipFill>
          <a:blip r:embed="rId1"/>
          <a:stretch/>
        </p:blipFill>
        <p:spPr>
          <a:xfrm>
            <a:off x="8001000" y="1874520"/>
            <a:ext cx="593640" cy="59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idea_clave_label"/>
          <p:cNvSpPr/>
          <p:nvPr/>
        </p:nvSpPr>
        <p:spPr>
          <a:xfrm>
            <a:off x="8001000" y="265176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chemeClr val="accent5"/>
                </a:solidFill>
                <a:effectLst/>
                <a:uFillTx/>
                <a:latin typeface="Arial"/>
              </a:rPr>
              <a:t>IDEA CLAVE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idea_clave_texto"/>
          <p:cNvSpPr/>
          <p:nvPr/>
        </p:nvSpPr>
        <p:spPr>
          <a:xfrm>
            <a:off x="8001000" y="3108960"/>
            <a:ext cx="329112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Escribe aquí el mensaje principal que el público debe recordar de esta diapositiva.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10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DBB2BE-445E-49B7-9C62-C1C76AB9535F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Título con imagen o gráfico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76" name="imagen_texto"/>
          <p:cNvSpPr/>
          <p:nvPr/>
        </p:nvSpPr>
        <p:spPr>
          <a:xfrm>
            <a:off x="548640" y="1508760"/>
            <a:ext cx="4479840" cy="32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Explica qué muestra la imagen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Destaca el hallazgo más importante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Indica la fuente de los datos</a:t>
            </a:r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imagen_fuente"/>
          <p:cNvSpPr/>
          <p:nvPr/>
        </p:nvSpPr>
        <p:spPr>
          <a:xfrm>
            <a:off x="548640" y="544068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Fuente: nombre de la fuente, año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imagen_espacio"/>
          <p:cNvSpPr/>
          <p:nvPr/>
        </p:nvSpPr>
        <p:spPr>
          <a:xfrm>
            <a:off x="5394960" y="1508760"/>
            <a:ext cx="6244560" cy="4251240"/>
          </a:xfrm>
          <a:prstGeom prst="roundRect">
            <a:avLst>
              <a:gd name="adj" fmla="val 3871"/>
            </a:avLst>
          </a:prstGeom>
          <a:solidFill>
            <a:schemeClr val="lt2">
              <a:alpha val="65000"/>
            </a:schemeClr>
          </a:solidFill>
          <a:ln w="19050">
            <a:solidFill>
              <a:schemeClr val="accent1">
                <a:alpha val="80000"/>
              </a:schemeClr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n_icono" descr="preencoded.png"/>
          <p:cNvPicPr/>
          <p:nvPr/>
        </p:nvPicPr>
        <p:blipFill>
          <a:blip r:embed="rId1"/>
          <a:stretch/>
        </p:blipFill>
        <p:spPr>
          <a:xfrm>
            <a:off x="8156520" y="288036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imagen_ayuda"/>
          <p:cNvSpPr/>
          <p:nvPr/>
        </p:nvSpPr>
        <p:spPr>
          <a:xfrm>
            <a:off x="5852160" y="3749040"/>
            <a:ext cx="53301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Inserta aquí tu imagen, gráfico o diagrama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(elimina este recuadro al insertarla)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11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EC83BB-B11F-4B63-848F-28112B6EBD48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Datos que importan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83" name="cifras_intro"/>
          <p:cNvSpPr/>
          <p:nvPr/>
        </p:nvSpPr>
        <p:spPr>
          <a:xfrm>
            <a:off x="548640" y="1188720"/>
            <a:ext cx="10057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Usa esta diapositiva para resaltar tus cifras más impactantes.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cifra_card_1"/>
          <p:cNvSpPr/>
          <p:nvPr/>
        </p:nvSpPr>
        <p:spPr>
          <a:xfrm>
            <a:off x="548640" y="1920240"/>
            <a:ext cx="3519720" cy="3291120"/>
          </a:xfrm>
          <a:prstGeom prst="roundRect">
            <a:avLst>
              <a:gd name="adj" fmla="val 5000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1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cifra_valor_1"/>
          <p:cNvSpPr/>
          <p:nvPr/>
        </p:nvSpPr>
        <p:spPr>
          <a:xfrm>
            <a:off x="822960" y="2240280"/>
            <a:ext cx="29710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0" u="none" strike="noStrike">
                <a:solidFill>
                  <a:schemeClr val="accent1"/>
                </a:solidFill>
                <a:effectLst/>
                <a:uFillTx/>
                <a:latin typeface="Arial Black"/>
                <a:ea typeface="Arial Black"/>
              </a:rPr>
              <a:t>85%</a:t>
            </a:r>
            <a:endParaRPr lang="es-PE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cifra_desc_1"/>
          <p:cNvSpPr/>
          <p:nvPr/>
        </p:nvSpPr>
        <p:spPr>
          <a:xfrm>
            <a:off x="868680" y="3749040"/>
            <a:ext cx="28796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Descripción breve de la primera cifra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cifra_card_2"/>
          <p:cNvSpPr/>
          <p:nvPr/>
        </p:nvSpPr>
        <p:spPr>
          <a:xfrm>
            <a:off x="4343400" y="1920240"/>
            <a:ext cx="3519720" cy="3291120"/>
          </a:xfrm>
          <a:prstGeom prst="roundRect">
            <a:avLst>
              <a:gd name="adj" fmla="val 5000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2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cifra_valor_2"/>
          <p:cNvSpPr/>
          <p:nvPr/>
        </p:nvSpPr>
        <p:spPr>
          <a:xfrm>
            <a:off x="4617720" y="2240280"/>
            <a:ext cx="29710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0" u="none" strike="noStrike">
                <a:solidFill>
                  <a:schemeClr val="accent2"/>
                </a:solidFill>
                <a:effectLst/>
                <a:uFillTx/>
                <a:latin typeface="Arial Black"/>
                <a:ea typeface="Arial Black"/>
              </a:rPr>
              <a:t>2.5M</a:t>
            </a:r>
            <a:endParaRPr lang="es-PE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cifra_desc_2"/>
          <p:cNvSpPr/>
          <p:nvPr/>
        </p:nvSpPr>
        <p:spPr>
          <a:xfrm>
            <a:off x="4663440" y="3749040"/>
            <a:ext cx="28796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Descripción breve de la segunda cifra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cifra_card_3"/>
          <p:cNvSpPr/>
          <p:nvPr/>
        </p:nvSpPr>
        <p:spPr>
          <a:xfrm>
            <a:off x="8138160" y="1920240"/>
            <a:ext cx="3519720" cy="3291120"/>
          </a:xfrm>
          <a:prstGeom prst="roundRect">
            <a:avLst>
              <a:gd name="adj" fmla="val 5000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3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cifra_valor_3"/>
          <p:cNvSpPr/>
          <p:nvPr/>
        </p:nvSpPr>
        <p:spPr>
          <a:xfrm>
            <a:off x="8412480" y="2240280"/>
            <a:ext cx="29710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0" u="none" strike="noStrike">
                <a:solidFill>
                  <a:schemeClr val="accent3"/>
                </a:solidFill>
                <a:effectLst/>
                <a:uFillTx/>
                <a:latin typeface="Arial Black"/>
                <a:ea typeface="Arial Black"/>
              </a:rPr>
              <a:t>x10</a:t>
            </a:r>
            <a:endParaRPr lang="es-PE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cifra_desc_3"/>
          <p:cNvSpPr/>
          <p:nvPr/>
        </p:nvSpPr>
        <p:spPr>
          <a:xfrm>
            <a:off x="8458200" y="3749040"/>
            <a:ext cx="287964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Descripción breve de la tercera cifra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cifras_fuente"/>
          <p:cNvSpPr/>
          <p:nvPr/>
        </p:nvSpPr>
        <p:spPr>
          <a:xfrm>
            <a:off x="548640" y="544068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Fuente: nombre de la fuente, año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12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75E63B-3C41-4DB3-9FA0-83028C06A17D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Demo / Código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96" name="codigo_fondo"/>
          <p:cNvSpPr/>
          <p:nvPr/>
        </p:nvSpPr>
        <p:spPr>
          <a:xfrm>
            <a:off x="548640" y="1508760"/>
            <a:ext cx="6765840" cy="4251240"/>
          </a:xfrm>
          <a:prstGeom prst="roundRect">
            <a:avLst>
              <a:gd name="adj" fmla="val 3226"/>
            </a:avLst>
          </a:prstGeom>
          <a:solidFill>
            <a:srgbClr val="050A1C"/>
          </a:solidFill>
          <a:ln w="15875">
            <a:solidFill>
              <a:schemeClr val="accent3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codigo_punto_1"/>
          <p:cNvSpPr/>
          <p:nvPr/>
        </p:nvSpPr>
        <p:spPr>
          <a:xfrm>
            <a:off x="822960" y="1719000"/>
            <a:ext cx="145440" cy="145440"/>
          </a:xfrm>
          <a:prstGeom prst="ellipse">
            <a:avLst/>
          </a:prstGeom>
          <a:solidFill>
            <a:srgbClr val="E040FB"/>
          </a:solidFill>
          <a:ln w="12700">
            <a:solidFill>
              <a:srgbClr val="E040F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codigo_punto_2"/>
          <p:cNvSpPr/>
          <p:nvPr/>
        </p:nvSpPr>
        <p:spPr>
          <a:xfrm>
            <a:off x="1078920" y="1719000"/>
            <a:ext cx="145440" cy="145440"/>
          </a:xfrm>
          <a:prstGeom prst="ellipse">
            <a:avLst/>
          </a:prstGeom>
          <a:solidFill>
            <a:srgbClr val="FFC857"/>
          </a:solidFill>
          <a:ln w="12700">
            <a:solidFill>
              <a:srgbClr val="FFC8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pPr/>
            <a:endParaRPr lang="es-P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odigo_punto_3"/>
          <p:cNvSpPr/>
          <p:nvPr/>
        </p:nvSpPr>
        <p:spPr>
          <a:xfrm>
            <a:off x="1334880" y="1719000"/>
            <a:ext cx="145440" cy="145440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pPr/>
            <a:endParaRPr lang="es-P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odigo_archivo"/>
          <p:cNvSpPr/>
          <p:nvPr/>
        </p:nvSpPr>
        <p:spPr>
          <a:xfrm>
            <a:off x="1737360" y="1645920"/>
            <a:ext cx="27424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ourier New"/>
                <a:ea typeface="Courier New"/>
              </a:rPr>
              <a:t>modelo.py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codigo_texto"/>
          <p:cNvSpPr/>
          <p:nvPr/>
        </p:nvSpPr>
        <p:spPr>
          <a:xfrm>
            <a:off x="868680" y="2148840"/>
            <a:ext cx="621720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6C7AA6"/>
                </a:solidFill>
                <a:effectLst/>
                <a:uFillTx/>
                <a:latin typeface="Courier New"/>
                <a:ea typeface="Courier New"/>
              </a:rPr>
              <a:t># Pega aquí tu código (Courier New, 14 pt)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9B5CFF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 pandas </a:t>
            </a:r>
            <a:r>
              <a:rPr lang="en-US" sz="1400" b="0" u="none" strike="noStrike">
                <a:solidFill>
                  <a:srgbClr val="9B5CFF"/>
                </a:solidFill>
                <a:effectLst/>
                <a:uFillTx/>
                <a:latin typeface="Courier New"/>
                <a:ea typeface="Courier New"/>
              </a:rPr>
              <a:t>as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 pd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9B5CFF"/>
                </a:solidFill>
                <a:effectLst/>
                <a:uFillTx/>
                <a:latin typeface="Courier New"/>
                <a:ea typeface="Courier New"/>
              </a:rPr>
              <a:t>from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 sklearn.ensemble </a:t>
            </a:r>
            <a:r>
              <a:rPr lang="en-US" sz="1400" b="0" u="none" strike="noStrike">
                <a:solidFill>
                  <a:srgbClr val="9B5CFF"/>
                </a:solidFill>
                <a:effectLst/>
                <a:uFillTx/>
                <a:latin typeface="Courier New"/>
                <a:ea typeface="Courier New"/>
              </a:rPr>
              <a:t>import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 RandomForestClassifier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df = pd.read_csv(</a:t>
            </a:r>
            <a:r>
              <a:rPr lang="en-US" sz="1400" b="0" u="none" strike="noStrike">
                <a:solidFill>
                  <a:srgbClr val="2EE6A6"/>
                </a:solidFill>
                <a:effectLst/>
                <a:uFillTx/>
                <a:latin typeface="Courier New"/>
                <a:ea typeface="Courier New"/>
              </a:rPr>
              <a:t>"datos_loreto.csv"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X, y = df.drop(</a:t>
            </a:r>
            <a:r>
              <a:rPr lang="en-US" sz="1400" b="0" u="none" strike="noStrike">
                <a:solidFill>
                  <a:srgbClr val="2EE6A6"/>
                </a:solidFill>
                <a:effectLst/>
                <a:uFillTx/>
                <a:latin typeface="Courier New"/>
                <a:ea typeface="Courier New"/>
              </a:rPr>
              <a:t>"objetivo"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, axis=1), df[</a:t>
            </a:r>
            <a:r>
              <a:rPr lang="en-US" sz="1400" b="0" u="none" strike="noStrike">
                <a:solidFill>
                  <a:srgbClr val="2EE6A6"/>
                </a:solidFill>
                <a:effectLst/>
                <a:uFillTx/>
                <a:latin typeface="Courier New"/>
                <a:ea typeface="Courier New"/>
              </a:rPr>
              <a:t>"objetivo"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modelo = RandomForestClassifier(n_estimators=</a:t>
            </a:r>
            <a:r>
              <a:rPr lang="en-US" sz="1400" b="0" u="none" strike="noStrike">
                <a:solidFill>
                  <a:srgbClr val="FFC857"/>
                </a:solidFill>
                <a:effectLst/>
                <a:uFillTx/>
                <a:latin typeface="Courier New"/>
                <a:ea typeface="Courier New"/>
              </a:rPr>
              <a:t>200</a:t>
            </a: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201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6ECFF"/>
                </a:solidFill>
                <a:effectLst/>
                <a:uFillTx/>
                <a:latin typeface="Courier New"/>
                <a:ea typeface="Courier New"/>
              </a:rPr>
              <a:t>modelo.fit(X, y)</a:t>
            </a:r>
            <a:endParaRPr lang="es-P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paso_circulo_1"/>
          <p:cNvSpPr/>
          <p:nvPr/>
        </p:nvSpPr>
        <p:spPr>
          <a:xfrm>
            <a:off x="7726680" y="1600200"/>
            <a:ext cx="547920" cy="547920"/>
          </a:xfrm>
          <a:prstGeom prst="ellipse">
            <a:avLst/>
          </a:prstGeom>
          <a:solidFill>
            <a:schemeClr val="accent3">
              <a:alpha val="80000"/>
            </a:schemeClr>
          </a:solidFill>
          <a:ln w="12700">
            <a:solidFill>
              <a:srgbClr val="9B5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paso_num_1"/>
          <p:cNvSpPr/>
          <p:nvPr/>
        </p:nvSpPr>
        <p:spPr>
          <a:xfrm>
            <a:off x="7726680" y="16002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paso_titulo_1"/>
          <p:cNvSpPr/>
          <p:nvPr/>
        </p:nvSpPr>
        <p:spPr>
          <a:xfrm>
            <a:off x="8503920" y="1581840"/>
            <a:ext cx="3135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Qué hace el código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aso_desc_1"/>
          <p:cNvSpPr/>
          <p:nvPr/>
        </p:nvSpPr>
        <p:spPr>
          <a:xfrm>
            <a:off x="8503920" y="1965960"/>
            <a:ext cx="31356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Explica el objetivo en una línea.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paso_circulo_2"/>
          <p:cNvSpPr/>
          <p:nvPr/>
        </p:nvSpPr>
        <p:spPr>
          <a:xfrm>
            <a:off x="7726680" y="2971800"/>
            <a:ext cx="547920" cy="547920"/>
          </a:xfrm>
          <a:prstGeom prst="ellipse">
            <a:avLst/>
          </a:prstGeom>
          <a:solidFill>
            <a:schemeClr val="accent3">
              <a:alpha val="80000"/>
            </a:schemeClr>
          </a:solidFill>
          <a:ln w="12700">
            <a:solidFill>
              <a:srgbClr val="9B5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aso_num_2"/>
          <p:cNvSpPr/>
          <p:nvPr/>
        </p:nvSpPr>
        <p:spPr>
          <a:xfrm>
            <a:off x="7726680" y="29718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paso_titulo_2"/>
          <p:cNvSpPr/>
          <p:nvPr/>
        </p:nvSpPr>
        <p:spPr>
          <a:xfrm>
            <a:off x="8503920" y="2953440"/>
            <a:ext cx="3135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Punto clave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paso_desc_2"/>
          <p:cNvSpPr/>
          <p:nvPr/>
        </p:nvSpPr>
        <p:spPr>
          <a:xfrm>
            <a:off x="8503920" y="3337560"/>
            <a:ext cx="31356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Señala la línea más importante.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paso_circulo_3"/>
          <p:cNvSpPr/>
          <p:nvPr/>
        </p:nvSpPr>
        <p:spPr>
          <a:xfrm>
            <a:off x="7726680" y="4343400"/>
            <a:ext cx="547920" cy="547920"/>
          </a:xfrm>
          <a:prstGeom prst="ellipse">
            <a:avLst/>
          </a:prstGeom>
          <a:solidFill>
            <a:schemeClr val="accent3">
              <a:alpha val="80000"/>
            </a:schemeClr>
          </a:solidFill>
          <a:ln w="12700">
            <a:solidFill>
              <a:srgbClr val="9B5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paso_num_3"/>
          <p:cNvSpPr/>
          <p:nvPr/>
        </p:nvSpPr>
        <p:spPr>
          <a:xfrm>
            <a:off x="7726680" y="4343400"/>
            <a:ext cx="547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aso_titulo_3"/>
          <p:cNvSpPr/>
          <p:nvPr/>
        </p:nvSpPr>
        <p:spPr>
          <a:xfrm>
            <a:off x="8503920" y="4325040"/>
            <a:ext cx="3135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Resultado</a:t>
            </a:r>
            <a:endParaRPr lang="es-P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paso_desc_3"/>
          <p:cNvSpPr/>
          <p:nvPr/>
        </p:nvSpPr>
        <p:spPr>
          <a:xfrm>
            <a:off x="8503920" y="4709160"/>
            <a:ext cx="31356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Muestra qué se obtiene al ejecutarlo.</a:t>
            </a:r>
            <a:endParaRPr lang="es-PE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13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9F78C9-8ED5-49CD-B7B1-109D76E746D1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41148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Conclusiones</a:t>
            </a:r>
            <a:endParaRPr lang="en-US" sz="3000" b="0" u="none" strike="noStrike">
              <a:solidFill>
                <a:schemeClr val="dk1"/>
              </a:solidFill>
              <a:effectLst/>
              <a:uFillTx/>
              <a:latin typeface="Arial Black"/>
            </a:endParaRPr>
          </a:p>
        </p:txBody>
      </p:sp>
      <p:sp>
        <p:nvSpPr>
          <p:cNvPr id="116" name="conclusion_card_1"/>
          <p:cNvSpPr/>
          <p:nvPr/>
        </p:nvSpPr>
        <p:spPr>
          <a:xfrm>
            <a:off x="548640" y="1600200"/>
            <a:ext cx="3519720" cy="3839760"/>
          </a:xfrm>
          <a:prstGeom prst="roundRect">
            <a:avLst>
              <a:gd name="adj" fmla="val 4675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1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7" name="conclusion_icono_1" descr="preencoded.png"/>
          <p:cNvPicPr/>
          <p:nvPr/>
        </p:nvPicPr>
        <p:blipFill>
          <a:blip r:embed="rId1"/>
          <a:stretch/>
        </p:blipFill>
        <p:spPr>
          <a:xfrm>
            <a:off x="914400" y="196596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conclusion_titulo_1"/>
          <p:cNvSpPr/>
          <p:nvPr/>
        </p:nvSpPr>
        <p:spPr>
          <a:xfrm>
            <a:off x="914400" y="2880360"/>
            <a:ext cx="2788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Conclusión 1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conclusion_desc_1"/>
          <p:cNvSpPr/>
          <p:nvPr/>
        </p:nvSpPr>
        <p:spPr>
          <a:xfrm>
            <a:off x="914400" y="3474720"/>
            <a:ext cx="278820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El aprendizaje más importante de tu charla.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conclusion_card_2"/>
          <p:cNvSpPr/>
          <p:nvPr/>
        </p:nvSpPr>
        <p:spPr>
          <a:xfrm>
            <a:off x="4343400" y="1600200"/>
            <a:ext cx="3519720" cy="3839760"/>
          </a:xfrm>
          <a:prstGeom prst="roundRect">
            <a:avLst>
              <a:gd name="adj" fmla="val 4675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3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1" name="conclusion_icono_2" descr="preencoded.png"/>
          <p:cNvPicPr/>
          <p:nvPr/>
        </p:nvPicPr>
        <p:blipFill>
          <a:blip r:embed="rId2"/>
          <a:stretch/>
        </p:blipFill>
        <p:spPr>
          <a:xfrm>
            <a:off x="4709160" y="196596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conclusion_titulo_2"/>
          <p:cNvSpPr/>
          <p:nvPr/>
        </p:nvSpPr>
        <p:spPr>
          <a:xfrm>
            <a:off x="4709160" y="2880360"/>
            <a:ext cx="2788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Conclusión 2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conclusion_desc_2"/>
          <p:cNvSpPr/>
          <p:nvPr/>
        </p:nvSpPr>
        <p:spPr>
          <a:xfrm>
            <a:off x="4709160" y="3474720"/>
            <a:ext cx="278820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Qué cambia para quien aplica lo aprendido.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conclusion_card_3"/>
          <p:cNvSpPr/>
          <p:nvPr/>
        </p:nvSpPr>
        <p:spPr>
          <a:xfrm>
            <a:off x="8138160" y="1600200"/>
            <a:ext cx="3519720" cy="3839760"/>
          </a:xfrm>
          <a:prstGeom prst="roundRect">
            <a:avLst>
              <a:gd name="adj" fmla="val 4675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4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" name="conclusion_icono_3" descr="preencoded.png"/>
          <p:cNvPicPr/>
          <p:nvPr/>
        </p:nvPicPr>
        <p:blipFill>
          <a:blip r:embed="rId3"/>
          <a:stretch/>
        </p:blipFill>
        <p:spPr>
          <a:xfrm>
            <a:off x="8503920" y="196596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conclusion_titulo_3"/>
          <p:cNvSpPr/>
          <p:nvPr/>
        </p:nvSpPr>
        <p:spPr>
          <a:xfrm>
            <a:off x="8503920" y="2880360"/>
            <a:ext cx="2788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Próximo paso</a:t>
            </a:r>
            <a:endParaRPr lang="es-P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conclusion_desc_3"/>
          <p:cNvSpPr/>
          <p:nvPr/>
        </p:nvSpPr>
        <p:spPr>
          <a:xfrm>
            <a:off x="8503920" y="3474720"/>
            <a:ext cx="278820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Una acción concreta que el público puede tomar hoy.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14"/>
          </p:nvPr>
        </p:nvSpPr>
        <p:spPr>
          <a:xfrm>
            <a:off x="11091600" y="6327720"/>
            <a:ext cx="547920" cy="32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DDAA4A-BAB5-4AAB-AA62-F9B4487324A8}" type="slidenum">
              <a:rPr lang="en-US" sz="10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s-P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wordmark_cierre"/>
          <p:cNvSpPr/>
          <p:nvPr/>
        </p:nvSpPr>
        <p:spPr>
          <a:xfrm>
            <a:off x="548640" y="548640"/>
            <a:ext cx="6400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IQUITOS </a:t>
            </a:r>
            <a:r>
              <a:rPr lang="en-US" sz="1500" b="1" u="none" strike="noStrike">
                <a:solidFill>
                  <a:schemeClr val="accent1"/>
                </a:solidFill>
                <a:effectLst/>
                <a:uFillTx/>
                <a:latin typeface="Arial Black"/>
                <a:ea typeface="Arial Black"/>
              </a:rPr>
              <a:t>DATA FEST 2026</a:t>
            </a:r>
            <a:endParaRPr lang="es-PE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racias"/>
          <p:cNvSpPr/>
          <p:nvPr/>
        </p:nvSpPr>
        <p:spPr>
          <a:xfrm>
            <a:off x="548640" y="1143000"/>
            <a:ext cx="685728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600" b="0" u="none" strike="noStrike">
                <a:solidFill>
                  <a:schemeClr val="dk1"/>
                </a:solidFill>
                <a:effectLst/>
                <a:uFillTx/>
                <a:latin typeface="Arial Black"/>
                <a:ea typeface="Arial Black"/>
              </a:rPr>
              <a:t>¡GRACIAS!</a:t>
            </a:r>
            <a:endParaRPr lang="es-PE" sz="6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preguntas_icono" descr="preencoded.png"/>
          <p:cNvPicPr/>
          <p:nvPr/>
        </p:nvPicPr>
        <p:blipFill>
          <a:blip r:embed="rId1"/>
          <a:stretch/>
        </p:blipFill>
        <p:spPr>
          <a:xfrm>
            <a:off x="548640" y="26060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reguntas"/>
          <p:cNvSpPr/>
          <p:nvPr/>
        </p:nvSpPr>
        <p:spPr>
          <a:xfrm>
            <a:off x="1188720" y="2560320"/>
            <a:ext cx="45712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¿Preguntas?</a:t>
            </a:r>
            <a:endParaRPr lang="es-PE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contacto_card"/>
          <p:cNvSpPr/>
          <p:nvPr/>
        </p:nvSpPr>
        <p:spPr>
          <a:xfrm>
            <a:off x="548640" y="3429000"/>
            <a:ext cx="4937040" cy="1828080"/>
          </a:xfrm>
          <a:prstGeom prst="roundRect">
            <a:avLst>
              <a:gd name="adj" fmla="val 9000"/>
            </a:avLst>
          </a:prstGeom>
          <a:solidFill>
            <a:schemeClr val="lt2">
              <a:alpha val="80000"/>
            </a:schemeClr>
          </a:solidFill>
          <a:ln w="15875">
            <a:solidFill>
              <a:schemeClr val="accent1">
                <a:alpha val="75000"/>
              </a:scheme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cierre_nombre"/>
          <p:cNvSpPr/>
          <p:nvPr/>
        </p:nvSpPr>
        <p:spPr>
          <a:xfrm>
            <a:off x="868680" y="3584520"/>
            <a:ext cx="4388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Alex Prieto Romani</a:t>
            </a:r>
            <a:endParaRPr lang="es-PE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cierre_icono_1" descr="preencoded.png"/>
          <p:cNvPicPr/>
          <p:nvPr/>
        </p:nvPicPr>
        <p:blipFill>
          <a:blip r:embed="rId2"/>
          <a:stretch/>
        </p:blipFill>
        <p:spPr>
          <a:xfrm>
            <a:off x="868680" y="4105800"/>
            <a:ext cx="2368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cierre_contacto_1"/>
          <p:cNvSpPr/>
          <p:nvPr/>
        </p:nvSpPr>
        <p:spPr>
          <a:xfrm>
            <a:off x="1234440" y="406908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linkedin.com/in/alex-prieto-romani</a:t>
            </a:r>
            <a:endParaRPr lang="es-PE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7" name="cierre_icono_2" descr="preencoded.png"/>
          <p:cNvPicPr/>
          <p:nvPr/>
        </p:nvPicPr>
        <p:blipFill>
          <a:blip r:embed="rId3"/>
          <a:stretch/>
        </p:blipFill>
        <p:spPr>
          <a:xfrm>
            <a:off x="868680" y="4471560"/>
            <a:ext cx="2368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cierre_contacto_2"/>
          <p:cNvSpPr/>
          <p:nvPr/>
        </p:nvSpPr>
        <p:spPr>
          <a:xfrm>
            <a:off x="1234440" y="443484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alexprieto1997@gmail.com</a:t>
            </a:r>
            <a:endParaRPr lang="es-PE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cierre_icono_3" descr="preencoded.png"/>
          <p:cNvPicPr/>
          <p:nvPr/>
        </p:nvPicPr>
        <p:blipFill>
          <a:blip r:embed="rId4"/>
          <a:stretch/>
        </p:blipFill>
        <p:spPr>
          <a:xfrm>
            <a:off x="868680" y="4837320"/>
            <a:ext cx="236880" cy="23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cierre_contacto_3"/>
          <p:cNvSpPr/>
          <p:nvPr/>
        </p:nvSpPr>
        <p:spPr>
          <a:xfrm>
            <a:off x="1234440" y="4800600"/>
            <a:ext cx="40226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alexprietoromani.github.io/</a:t>
            </a:r>
            <a:endParaRPr lang="es-PE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qr_espacio"/>
          <p:cNvSpPr/>
          <p:nvPr/>
        </p:nvSpPr>
        <p:spPr>
          <a:xfrm>
            <a:off x="5760720" y="3429000"/>
            <a:ext cx="1828080" cy="1828080"/>
          </a:xfrm>
          <a:prstGeom prst="roundRect">
            <a:avLst>
              <a:gd name="adj" fmla="val 7500"/>
            </a:avLst>
          </a:prstGeom>
          <a:solidFill>
            <a:srgbClr val="FFFFFF">
              <a:alpha val="12000"/>
            </a:srgbClr>
          </a:solidFill>
          <a:ln w="15875">
            <a:solidFill>
              <a:srgbClr val="12C8FC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s-P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qr_icono" descr="preencoded.png"/>
          <p:cNvPicPr/>
          <p:nvPr/>
        </p:nvPicPr>
        <p:blipFill>
          <a:blip r:embed="rId5"/>
          <a:stretch/>
        </p:blipFill>
        <p:spPr>
          <a:xfrm>
            <a:off x="6355080" y="384048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qr_ayuda"/>
          <p:cNvSpPr/>
          <p:nvPr/>
        </p:nvSpPr>
        <p:spPr>
          <a:xfrm>
            <a:off x="5760720" y="4526280"/>
            <a:ext cx="1828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Tu QR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(opcional)</a:t>
            </a:r>
            <a:endParaRPr lang="es-PE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Iquitos Data Fest 2026">
  <a:themeElements>
    <a:clrScheme name="Iquitos Data Fest 2026">
      <a:dk1>
        <a:srgbClr val="FFFFFF"/>
      </a:dk1>
      <a:lt1>
        <a:srgbClr val="03050F"/>
      </a:lt1>
      <a:dk2>
        <a:srgbClr val="A9B8DA"/>
      </a:dk2>
      <a:lt2>
        <a:srgbClr val="0B1638"/>
      </a:lt2>
      <a:accent1>
        <a:srgbClr val="12C8FC"/>
      </a:accent1>
      <a:accent2>
        <a:srgbClr val="1E7BFF"/>
      </a:accent2>
      <a:accent3>
        <a:srgbClr val="9B5CFF"/>
      </a:accent3>
      <a:accent4>
        <a:srgbClr val="E040FB"/>
      </a:accent4>
      <a:accent5>
        <a:srgbClr val="FFC857"/>
      </a:accent5>
      <a:accent6>
        <a:srgbClr val="2EE6A6"/>
      </a:accent6>
      <a:hlink>
        <a:srgbClr val="12C8FC"/>
      </a:hlink>
      <a:folHlink>
        <a:srgbClr val="9B5CFF"/>
      </a:folHlink>
    </a:clrScheme>
    <a:fontScheme name="Iquitos Data Fest 2026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Application>LibreOffice/26.8.0.3$Linux_X86_64 LibreOffice_project/680$Build-3</Application>
  <AppVersion>15.0000</AppVersion>
  <Words>669</Words>
  <Paragraphs>118</Paragraphs>
  <Company>Iquitos Data Fest 2026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2026-10-08T13:19:47Z</dcterms:created>
  <dc:creator>NEO KERNEL · FISI-UNAP</dc:creator>
  <dc:description/>
  <dc:language>es-PE</dc:language>
  <cp:lastModifiedBy/>
  <dcterms:modified xsi:type="dcterms:W3CDTF">2026-10-11T16:44:03Z</dcterms:modified>
  <cp:revision>4</cp:revision>
  <dc:subject>PptxGenJS Presentation</dc:subject>
  <dc:title>Plantilla para ponentes — Iquitos Data Fest 2026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Panorámica</vt:lpwstr>
  </property>
  <property fmtid="{D5CDD505-2E9C-101B-9397-08002B2CF9AE}" pid="4" name="Slides">
    <vt:i4>10</vt:i4>
  </property>
</Properties>
</file>